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58" r:id="rId5"/>
    <p:sldId id="265" r:id="rId6"/>
    <p:sldId id="261" r:id="rId7"/>
    <p:sldId id="262" r:id="rId8"/>
    <p:sldId id="263" r:id="rId9"/>
    <p:sldId id="260" r:id="rId10"/>
    <p:sldId id="266" r:id="rId11"/>
    <p:sldId id="267" r:id="rId12"/>
    <p:sldId id="270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97" autoAdjust="0"/>
    <p:restoredTop sz="94660"/>
  </p:normalViewPr>
  <p:slideViewPr>
    <p:cSldViewPr snapToGrid="0">
      <p:cViewPr varScale="1">
        <p:scale>
          <a:sx n="75" d="100"/>
          <a:sy n="75" d="100"/>
        </p:scale>
        <p:origin x="62" y="2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Implementation</a:t>
            </a:r>
            <a:r>
              <a:rPr lang="en-US" baseline="0" dirty="0"/>
              <a:t> Gant Chat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Week 1-2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Deployment</c:v>
                </c:pt>
                <c:pt idx="1">
                  <c:v>Training DQN and Hperparemeter tuning</c:v>
                </c:pt>
                <c:pt idx="2">
                  <c:v>Environment Setup and Baseline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AB6-4528-9CBA-E28841360B6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Week 3-5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Deployment</c:v>
                </c:pt>
                <c:pt idx="1">
                  <c:v>Training DQN and Hperparemeter tuning</c:v>
                </c:pt>
                <c:pt idx="2">
                  <c:v>Environment Setup and Baseline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AB6-4528-9CBA-E28841360B6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Week 6-7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Deployment</c:v>
                </c:pt>
                <c:pt idx="1">
                  <c:v>Training DQN and Hperparemeter tuning</c:v>
                </c:pt>
                <c:pt idx="2">
                  <c:v>Environment Setup and Baseline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AB6-4528-9CBA-E28841360B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574199503"/>
        <c:axId val="1677080399"/>
      </c:barChart>
      <c:catAx>
        <c:axId val="157419950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77080399"/>
        <c:crosses val="autoZero"/>
        <c:auto val="1"/>
        <c:lblAlgn val="ctr"/>
        <c:lblOffset val="100"/>
        <c:noMultiLvlLbl val="0"/>
      </c:catAx>
      <c:valAx>
        <c:axId val="167708039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741995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baseline="0" dirty="0"/>
              <a:t>Traffic Fixed Timer against RL Matrix</a:t>
            </a:r>
            <a:endParaRPr lang="en-US" b="1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TrafficFixed Timer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Average Waiting Time</c:v>
                </c:pt>
                <c:pt idx="1">
                  <c:v>Intersection through </c:v>
                </c:pt>
                <c:pt idx="2">
                  <c:v>Queue Length(Max)</c:v>
                </c:pt>
                <c:pt idx="3">
                  <c:v>Convergence Speed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</c:v>
                </c:pt>
                <c:pt idx="1">
                  <c:v>20</c:v>
                </c:pt>
                <c:pt idx="2">
                  <c:v>3.5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6B8-4381-A34E-988A467E6CB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RL Matrix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Average Waiting Time</c:v>
                </c:pt>
                <c:pt idx="1">
                  <c:v>Intersection through </c:v>
                </c:pt>
                <c:pt idx="2">
                  <c:v>Queue Length(Max)</c:v>
                </c:pt>
                <c:pt idx="3">
                  <c:v>Convergence Speed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</c:v>
                </c:pt>
                <c:pt idx="1">
                  <c:v>30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6B8-4381-A34E-988A467E6C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074919503"/>
        <c:axId val="1252771103"/>
      </c:barChart>
      <c:catAx>
        <c:axId val="107491950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52771103"/>
        <c:crosses val="autoZero"/>
        <c:auto val="1"/>
        <c:lblAlgn val="ctr"/>
        <c:lblOffset val="100"/>
        <c:noMultiLvlLbl val="0"/>
      </c:catAx>
      <c:valAx>
        <c:axId val="125277110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49195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A64C0-02E0-4176-9731-33B3FE8DDAC7}" type="datetimeFigureOut">
              <a:rPr lang="en-US" smtClean="0"/>
              <a:t>25-Nov-25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05352-8EEC-4C92-B136-A6C34AFE3D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046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A64C0-02E0-4176-9731-33B3FE8DDAC7}" type="datetimeFigureOut">
              <a:rPr lang="en-US" smtClean="0"/>
              <a:t>25-Nov-25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05352-8EEC-4C92-B136-A6C34AFE3D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13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A64C0-02E0-4176-9731-33B3FE8DDAC7}" type="datetimeFigureOut">
              <a:rPr lang="en-US" smtClean="0"/>
              <a:t>25-Nov-25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05352-8EEC-4C92-B136-A6C34AFE3D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720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A64C0-02E0-4176-9731-33B3FE8DDAC7}" type="datetimeFigureOut">
              <a:rPr lang="en-US" smtClean="0"/>
              <a:t>25-Nov-25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05352-8EEC-4C92-B136-A6C34AFE3D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213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A64C0-02E0-4176-9731-33B3FE8DDAC7}" type="datetimeFigureOut">
              <a:rPr lang="en-US" smtClean="0"/>
              <a:t>25-Nov-25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05352-8EEC-4C92-B136-A6C34AFE3D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362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A64C0-02E0-4176-9731-33B3FE8DDAC7}" type="datetimeFigureOut">
              <a:rPr lang="en-US" smtClean="0"/>
              <a:t>25-Nov-25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05352-8EEC-4C92-B136-A6C34AFE3D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806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A64C0-02E0-4176-9731-33B3FE8DDAC7}" type="datetimeFigureOut">
              <a:rPr lang="en-US" smtClean="0"/>
              <a:t>25-Nov-25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05352-8EEC-4C92-B136-A6C34AFE3D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88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A64C0-02E0-4176-9731-33B3FE8DDAC7}" type="datetimeFigureOut">
              <a:rPr lang="en-US" smtClean="0"/>
              <a:t>25-Nov-25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05352-8EEC-4C92-B136-A6C34AFE3D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506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A64C0-02E0-4176-9731-33B3FE8DDAC7}" type="datetimeFigureOut">
              <a:rPr lang="en-US" smtClean="0"/>
              <a:t>25-Nov-25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05352-8EEC-4C92-B136-A6C34AFE3D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580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A64C0-02E0-4176-9731-33B3FE8DDAC7}" type="datetimeFigureOut">
              <a:rPr lang="en-US" smtClean="0"/>
              <a:t>25-Nov-25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05352-8EEC-4C92-B136-A6C34AFE3D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665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A64C0-02E0-4176-9731-33B3FE8DDAC7}" type="datetimeFigureOut">
              <a:rPr lang="en-US" smtClean="0"/>
              <a:t>25-Nov-25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05352-8EEC-4C92-B136-A6C34AFE3D1E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162441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A64C0-02E0-4176-9731-33B3FE8DDAC7}" type="datetimeFigureOut">
              <a:rPr lang="en-US" smtClean="0"/>
              <a:t>25-Nov-25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05352-8EEC-4C92-B136-A6C34AFE3D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6866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A64C0-02E0-4176-9731-33B3FE8DDAC7}" type="datetimeFigureOut">
              <a:rPr lang="en-US" smtClean="0"/>
              <a:t>25-Nov-25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05352-8EEC-4C92-B136-A6C34AFE3D1E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809223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A64C0-02E0-4176-9731-33B3FE8DDAC7}" type="datetimeFigureOut">
              <a:rPr lang="en-US" smtClean="0"/>
              <a:t>25-Nov-25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05352-8EEC-4C92-B136-A6C34AFE3D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9231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A64C0-02E0-4176-9731-33B3FE8DDAC7}" type="datetimeFigureOut">
              <a:rPr lang="en-US" smtClean="0"/>
              <a:t>25-Nov-25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05352-8EEC-4C92-B136-A6C34AFE3D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3961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A64C0-02E0-4176-9731-33B3FE8DDAC7}" type="datetimeFigureOut">
              <a:rPr lang="en-US" smtClean="0"/>
              <a:t>25-Nov-25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05352-8EEC-4C92-B136-A6C34AFE3D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185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3A64C0-02E0-4176-9731-33B3FE8DDAC7}" type="datetimeFigureOut">
              <a:rPr lang="en-US" smtClean="0"/>
              <a:t>25-Nov-25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D205352-8EEC-4C92-B136-A6C34AFE3D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135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1DA5B-5F58-4672-92DE-43B7BC0476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1431" y="1178560"/>
            <a:ext cx="9144000" cy="2620442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700" b="1" dirty="0"/>
              <a:t>NAME:ATUHAIRE PAULINE</a:t>
            </a:r>
            <a:br>
              <a:rPr lang="en-US" sz="2700" b="1" dirty="0"/>
            </a:br>
            <a:r>
              <a:rPr lang="en-US" sz="2700" b="1" dirty="0"/>
              <a:t>REG NO:B35093</a:t>
            </a:r>
            <a:br>
              <a:rPr lang="en-US" dirty="0"/>
            </a:br>
            <a:r>
              <a:rPr lang="en-US" sz="2700" b="1" dirty="0"/>
              <a:t>COURSE:DATA LIFE CYCLE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5BE965-366A-422C-B57E-E48FFBAC4A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83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9A5DE-EBF6-4AE9-B146-341107EA9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/>
              <a:t>DEEP GREEN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87960-AA5B-4419-ADDB-CFB80AB106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261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/>
              <a:t>Deep Green:  Is an autonomous traffic control system powered by Deep Reinforcement Learning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/>
              <a:t>The Problem(The Why)</a:t>
            </a:r>
          </a:p>
          <a:p>
            <a:r>
              <a:rPr lang="en-US" sz="1400" dirty="0"/>
              <a:t>Congestion costs billions annually</a:t>
            </a:r>
          </a:p>
          <a:p>
            <a:r>
              <a:rPr lang="en-US" sz="1400" dirty="0"/>
              <a:t>Current solution: Fixed timers (inefficient) or expensive sensors (hard to maintain).</a:t>
            </a:r>
          </a:p>
          <a:p>
            <a:r>
              <a:rPr lang="en-US" sz="1400" b="1" dirty="0"/>
              <a:t>Goal: </a:t>
            </a:r>
            <a:r>
              <a:rPr lang="en-US" sz="1400" dirty="0"/>
              <a:t>An agent that sees traffic and adapts instantly.</a:t>
            </a:r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endParaRPr lang="en-US" sz="1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C37651-4D51-4903-8108-3F1F6D16B5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345" y="4017818"/>
            <a:ext cx="4200092" cy="25861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C6FFFCD-F58E-4CE5-9BA3-5CBC964842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6216" y="4165599"/>
            <a:ext cx="3777674" cy="2586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925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A1CA5-F0D4-4D7A-884B-1A4EBAED2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Comparison of  Rule-Based Control(If X then Y) Vs Trial and Error(Optimal Policy)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EB597A80-789C-4324-B99E-60F0C5EB5E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91119306"/>
              </p:ext>
            </p:extLst>
          </p:nvPr>
        </p:nvGraphicFramePr>
        <p:xfrm>
          <a:off x="838200" y="1451728"/>
          <a:ext cx="8267697" cy="424710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55899">
                  <a:extLst>
                    <a:ext uri="{9D8B030D-6E8A-4147-A177-3AD203B41FA5}">
                      <a16:colId xmlns:a16="http://schemas.microsoft.com/office/drawing/2014/main" val="2938380362"/>
                    </a:ext>
                  </a:extLst>
                </a:gridCol>
                <a:gridCol w="2755899">
                  <a:extLst>
                    <a:ext uri="{9D8B030D-6E8A-4147-A177-3AD203B41FA5}">
                      <a16:colId xmlns:a16="http://schemas.microsoft.com/office/drawing/2014/main" val="3635521187"/>
                    </a:ext>
                  </a:extLst>
                </a:gridCol>
                <a:gridCol w="2755899">
                  <a:extLst>
                    <a:ext uri="{9D8B030D-6E8A-4147-A177-3AD203B41FA5}">
                      <a16:colId xmlns:a16="http://schemas.microsoft.com/office/drawing/2014/main" val="1096276301"/>
                    </a:ext>
                  </a:extLst>
                </a:gridCol>
              </a:tblGrid>
              <a:tr h="459573">
                <a:tc>
                  <a:txBody>
                    <a:bodyPr/>
                    <a:lstStyle/>
                    <a:p>
                      <a:pPr marL="0" marR="0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Feature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95250" marT="0" marB="1143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Rule-Based Control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0" marB="1143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RL Control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0" marT="0" marB="114300"/>
                </a:tc>
                <a:extLst>
                  <a:ext uri="{0D108BD9-81ED-4DB2-BD59-A6C34878D82A}">
                    <a16:rowId xmlns:a16="http://schemas.microsoft.com/office/drawing/2014/main" val="1498405741"/>
                  </a:ext>
                </a:extLst>
              </a:tr>
              <a:tr h="628257">
                <a:tc>
                  <a:txBody>
                    <a:bodyPr/>
                    <a:lstStyle/>
                    <a:p>
                      <a:pPr marL="0" marR="0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Knowledge Source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95250" marT="114300" marB="1143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Human expertise, explicit rules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114300" marB="1143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Data from interaction, trial &amp; error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0" marT="114300" marB="114300"/>
                </a:tc>
                <a:extLst>
                  <a:ext uri="{0D108BD9-81ED-4DB2-BD59-A6C34878D82A}">
                    <a16:rowId xmlns:a16="http://schemas.microsoft.com/office/drawing/2014/main" val="3156916408"/>
                  </a:ext>
                </a:extLst>
              </a:tr>
              <a:tr h="946884">
                <a:tc>
                  <a:txBody>
                    <a:bodyPr/>
                    <a:lstStyle/>
                    <a:p>
                      <a:pPr marL="0" marR="0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Adaptability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95250" marT="114300" marB="1143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Low; rules must be manually updated for new situations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114300" marB="1143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High; learns and adapts to changing environments over time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0" marT="114300" marB="114300"/>
                </a:tc>
                <a:extLst>
                  <a:ext uri="{0D108BD9-81ED-4DB2-BD59-A6C34878D82A}">
                    <a16:rowId xmlns:a16="http://schemas.microsoft.com/office/drawing/2014/main" val="2138911786"/>
                  </a:ext>
                </a:extLst>
              </a:tr>
              <a:tr h="1265511">
                <a:tc>
                  <a:txBody>
                    <a:bodyPr/>
                    <a:lstStyle/>
                    <a:p>
                      <a:pPr marL="0" marR="0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Complexity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95250" marT="114300" marB="1143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Suitable for simple, well-defined problems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114300" marB="1143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Suitable for complex, dynamic problems where rules are hard to define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0" marT="114300" marB="114300"/>
                </a:tc>
                <a:extLst>
                  <a:ext uri="{0D108BD9-81ED-4DB2-BD59-A6C34878D82A}">
                    <a16:rowId xmlns:a16="http://schemas.microsoft.com/office/drawing/2014/main" val="767244417"/>
                  </a:ext>
                </a:extLst>
              </a:tr>
              <a:tr h="946884">
                <a:tc>
                  <a:txBody>
                    <a:bodyPr/>
                    <a:lstStyle/>
                    <a:p>
                      <a:pPr marL="0" marR="0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Decision Process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95250" marT="114300" marB="1143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Follows deterministic "If X then Y" logic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114300" marB="1143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Learns a "policy" that maximizes long-term reward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0" marT="114300" marB="114300"/>
                </a:tc>
                <a:extLst>
                  <a:ext uri="{0D108BD9-81ED-4DB2-BD59-A6C34878D82A}">
                    <a16:rowId xmlns:a16="http://schemas.microsoft.com/office/drawing/2014/main" val="1515096742"/>
                  </a:ext>
                </a:extLst>
              </a:tr>
            </a:tbl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504A0B5E-DEB8-4CC6-872A-A31319E847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798167" y="0"/>
            <a:ext cx="1399016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220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5D60D-4CC9-4DF7-8800-86E55C060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02207"/>
          </a:xfrm>
        </p:spPr>
        <p:txBody>
          <a:bodyPr>
            <a:normAutofit/>
          </a:bodyPr>
          <a:lstStyle/>
          <a:p>
            <a:r>
              <a:rPr lang="en-US" sz="2400" b="1" dirty="0"/>
              <a:t>Illustration of Rule-Based Control(If X then Y) Vs Trial and Error(Optimal Policy)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86077-3D40-4F09-9940-FAEC8E41FA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7332"/>
            <a:ext cx="10515600" cy="4709631"/>
          </a:xfrm>
        </p:spPr>
        <p:txBody>
          <a:bodyPr/>
          <a:lstStyle/>
          <a:p>
            <a:endParaRPr lang="en-US" dirty="0"/>
          </a:p>
          <a:p>
            <a:pPr marL="0" indent="0">
              <a:buNone/>
            </a:pPr>
            <a:r>
              <a:rPr lang="en-US" sz="1400" dirty="0"/>
              <a:t>Traditional coding requires us to write rules for every possible traffic scenario. RL allows the agent to </a:t>
            </a:r>
            <a:r>
              <a:rPr lang="en-US" sz="1400" i="1" dirty="0"/>
              <a:t>learn</a:t>
            </a:r>
            <a:r>
              <a:rPr lang="en-US" sz="1400" dirty="0"/>
              <a:t> the rules by interacting with the traffic itself, finding optimizations humans might miss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C8D059-73B3-4756-A2DB-CDAD910A66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957" y="2895898"/>
            <a:ext cx="4792518" cy="24947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F696649-0AB5-42A3-A18A-095ED953C1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2895898"/>
            <a:ext cx="5052291" cy="2563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8546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CC6F1-081D-411C-8639-145430710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1" dirty="0"/>
              <a:t>Mathematical Formulation (The MDP)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146A5C-9AC8-42A6-9CE8-833ADAEE3C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0534" y="2040516"/>
            <a:ext cx="8596668" cy="3880773"/>
          </a:xfrm>
        </p:spPr>
        <p:txBody>
          <a:bodyPr/>
          <a:lstStyle/>
          <a:p>
            <a:r>
              <a:rPr lang="en-US" sz="1400" dirty="0"/>
              <a:t></a:t>
            </a:r>
            <a:r>
              <a:rPr lang="en-US" dirty="0"/>
              <a:t> </a:t>
            </a:r>
            <a:r>
              <a:rPr lang="en-US" sz="1400" dirty="0"/>
              <a:t>State ($S$): Agent's Perception. Snapshot of the intersection traffic condition (queue lengths, vehicle speeds) used as input for decision-making.</a:t>
            </a:r>
          </a:p>
          <a:p>
            <a:r>
              <a:rPr lang="en-US" sz="1400" dirty="0"/>
              <a:t>	Action ($A$): Agent's Control. Discrete choice to either Switch the light phase (e.g., North-South $\to$ Yellow/Red $\to$ East-West) or Keep the current phase.</a:t>
            </a:r>
          </a:p>
          <a:p>
            <a:r>
              <a:rPr lang="en-US" sz="1400" dirty="0"/>
              <a:t>	Reward ($R$): Agent's Goal. Negative value of the total waiting time. The agent maximizes reward by minimizing delay and congestion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1400" dirty="0"/>
              <a:t>Note: This is the core of the research. We punish the agent for every second a car sits idle. To maximize its score, it must clear traffic efficiently."</a:t>
            </a:r>
          </a:p>
        </p:txBody>
      </p:sp>
    </p:spTree>
    <p:extLst>
      <p:ext uri="{BB962C8B-B14F-4D97-AF65-F5344CB8AC3E}">
        <p14:creationId xmlns:p14="http://schemas.microsoft.com/office/powerpoint/2010/main" val="29958400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68EBE-6F8A-4B15-ACAE-B93EDA343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20436"/>
          </a:xfrm>
        </p:spPr>
        <p:txBody>
          <a:bodyPr/>
          <a:lstStyle/>
          <a:p>
            <a:pPr algn="ctr"/>
            <a:r>
              <a:rPr lang="en-US" sz="2400" b="1" dirty="0"/>
              <a:t>Mathematical Formulation (The MDP) Illustration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7EEAB69-B46C-418A-AD3D-9D31592530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4" y="1690254"/>
            <a:ext cx="7838593" cy="4880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349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DFE84-B875-49D1-A90C-E8553F2B4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28073"/>
          </a:xfrm>
        </p:spPr>
        <p:txBody>
          <a:bodyPr/>
          <a:lstStyle/>
          <a:p>
            <a:r>
              <a:rPr lang="en-US" sz="2400" b="1" dirty="0"/>
              <a:t>The Solution: Deep Q-Network (DQN)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321408-EC9A-43E0-9834-560C2A3F2B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160204"/>
            <a:ext cx="8596668" cy="2783723"/>
          </a:xfrm>
        </p:spPr>
        <p:txBody>
          <a:bodyPr/>
          <a:lstStyle/>
          <a:p>
            <a:pPr marL="0" indent="0">
              <a:buNone/>
            </a:pPr>
            <a:r>
              <a:rPr lang="en-US" sz="1400" b="1" dirty="0"/>
              <a:t>Key Concepts</a:t>
            </a:r>
            <a:r>
              <a:rPr lang="en-US" sz="1400" dirty="0"/>
              <a:t>:</a:t>
            </a:r>
          </a:p>
          <a:p>
            <a:r>
              <a:rPr lang="en-US" sz="1400" dirty="0"/>
              <a:t>Experience Replay: Remembering past traffic jams to learn from them later.</a:t>
            </a:r>
          </a:p>
          <a:p>
            <a:r>
              <a:rPr lang="en-US" sz="1400" dirty="0"/>
              <a:t>Exploration: Occasionally trying random phases to discover new strategies.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I chose DQN because traffic phases are discrete choices. The 'Brain' is a deep neural network that predicts the long-term value of turning the light green right now.</a:t>
            </a:r>
          </a:p>
          <a:p>
            <a:pPr marL="0" indent="0">
              <a:buNone/>
            </a:pPr>
            <a:r>
              <a:rPr lang="en-US" sz="1400" dirty="0"/>
              <a:t>Q-Function Approximation: Instead of using a table to store Q-values for each state-action pair, DQN uses a neural network to approximate the Q-values. The input to the network is the state, and the output is a set of Q-values for all possible actions.</a:t>
            </a:r>
          </a:p>
        </p:txBody>
      </p:sp>
      <p:pic>
        <p:nvPicPr>
          <p:cNvPr id="4" name="Picture 3" descr="https://miro.medium.com/v2/resize:fit:740/1*aFJ8iGIpQ8Q6ykODgIpXlA.png">
            <a:extLst>
              <a:ext uri="{FF2B5EF4-FFF2-40B4-BE49-F238E27FC236}">
                <a16:creationId xmlns:a16="http://schemas.microsoft.com/office/drawing/2014/main" id="{5C643758-1281-4773-ACBE-EFE503AFE08B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256" y="4240773"/>
            <a:ext cx="6217920" cy="55626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47F9D85-1BB5-4897-A00C-B844FED95F3C}"/>
              </a:ext>
            </a:extLst>
          </p:cNvPr>
          <p:cNvSpPr/>
          <p:nvPr/>
        </p:nvSpPr>
        <p:spPr>
          <a:xfrm>
            <a:off x="595975" y="4749304"/>
            <a:ext cx="4290062" cy="175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Where:</a:t>
            </a:r>
          </a:p>
          <a:p>
            <a:pPr marL="342900" marR="0" lvl="0" indent="-342900">
              <a:lnSpc>
                <a:spcPct val="115000"/>
              </a:lnSpc>
              <a:spcBef>
                <a:spcPts val="257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θ are the weights of the main Q-network,</a:t>
            </a:r>
          </a:p>
          <a:p>
            <a:pPr marL="342900" marR="0" lvl="0" indent="-342900">
              <a:lnSpc>
                <a:spcPct val="115000"/>
              </a:lnSpc>
              <a:spcBef>
                <a:spcPts val="137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θ− are the weights of the target Q-network,</a:t>
            </a:r>
          </a:p>
          <a:p>
            <a:pPr marL="342900" marR="0" lvl="0" indent="-342900">
              <a:lnSpc>
                <a:spcPct val="115000"/>
              </a:lnSpc>
              <a:spcBef>
                <a:spcPts val="137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 is the current state,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07F787-E2CC-41A6-A3A2-1725A9E26AD1}"/>
              </a:ext>
            </a:extLst>
          </p:cNvPr>
          <p:cNvSpPr/>
          <p:nvPr/>
        </p:nvSpPr>
        <p:spPr>
          <a:xfrm>
            <a:off x="807256" y="3965987"/>
            <a:ext cx="2595418" cy="3193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Bellman Equation: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AAB5F01-F563-49A9-925B-7D830072FACC}"/>
              </a:ext>
            </a:extLst>
          </p:cNvPr>
          <p:cNvSpPr/>
          <p:nvPr/>
        </p:nvSpPr>
        <p:spPr>
          <a:xfrm>
            <a:off x="4886037" y="5220355"/>
            <a:ext cx="4922981" cy="1410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15000"/>
              </a:lnSpc>
              <a:spcBef>
                <a:spcPts val="137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 is the action taken,</a:t>
            </a:r>
          </a:p>
          <a:p>
            <a:pPr marL="342900" marR="0" lvl="0" indent="-342900">
              <a:lnSpc>
                <a:spcPct val="115000"/>
              </a:lnSpc>
              <a:spcBef>
                <a:spcPts val="137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ris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the reward received,</a:t>
            </a:r>
          </a:p>
          <a:p>
            <a:pPr marL="342900" marR="0" lvl="0" indent="-342900">
              <a:lnSpc>
                <a:spcPct val="115000"/>
              </a:lnSpc>
              <a:spcBef>
                <a:spcPts val="137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s′ is the next state,</a:t>
            </a:r>
          </a:p>
          <a:p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maxa′Q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​Q’(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s′,a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′) is the maximum Q-value for the next state.</a:t>
            </a:r>
          </a:p>
        </p:txBody>
      </p:sp>
    </p:spTree>
    <p:extLst>
      <p:ext uri="{BB962C8B-B14F-4D97-AF65-F5344CB8AC3E}">
        <p14:creationId xmlns:p14="http://schemas.microsoft.com/office/powerpoint/2010/main" val="10244626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F68FA-E288-47FA-A0B5-D641D7DFD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Schematic Illustration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9617E2C-4EAE-4CC6-8106-5290959E62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71041" y="1690688"/>
            <a:ext cx="7844472" cy="4267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5161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486AD-B7D9-43F8-BAC7-97860BC5D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Simulation Environment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5A3B3F-A19E-434C-BE7A-A24DEE43BA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sz="1400" dirty="0"/>
              <a:t>Env: Gymnasium intersection-v1.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400" dirty="0"/>
              <a:t>Input: Vector of lane density.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400" dirty="0"/>
              <a:t>Output: Phase change command.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Note: I shall use </a:t>
            </a:r>
            <a:r>
              <a:rPr lang="en-US" sz="1200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highway-env</a:t>
            </a:r>
            <a:r>
              <a:rPr lang="en-US" sz="1400" dirty="0"/>
              <a:t> for the training. It's lightweight, standardizes the observation space, and allows for rapid iteration before we test on heavier simulators like SUMO.“</a:t>
            </a:r>
          </a:p>
          <a:p>
            <a:pPr marL="0" indent="0">
              <a:buNone/>
            </a:pPr>
            <a:r>
              <a:rPr lang="en-US" sz="1400" dirty="0"/>
              <a:t>SUMO:</a:t>
            </a:r>
            <a:r>
              <a:rPr lang="en-US" dirty="0"/>
              <a:t> </a:t>
            </a:r>
            <a:r>
              <a:rPr lang="en-US" sz="1400" dirty="0"/>
              <a:t>Simulation of Urban Mobility (SUMO) is an open-source microscopic traffic simulation package for modeling and analyzing transportation systems.</a:t>
            </a:r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FCE7DA6-BF1D-4093-AFF2-06FFBEC855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We will use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highway-env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for training. It's lightweight, standardizes the observation space, and allows for rapid iteration before we test on heavier simulators like SUMO."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78093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04D2B-3FED-4BEF-8D9F-021A4FA64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7425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400" dirty="0"/>
              <a:t>Implementation Plan (Part B Preview)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8823E-B940-4F3A-8CC4-1912B6429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080655"/>
            <a:ext cx="8596668" cy="4655907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u="sng" dirty="0"/>
              <a:t>Phases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Weeks 1-2: Environment setup and Baseline (random agent).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Weeks 3-5: Training DQN and Hyperparameter tuning.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Weeks 6-7</a:t>
            </a:r>
            <a:r>
              <a:rPr lang="en-US" dirty="0"/>
              <a:t>: </a:t>
            </a:r>
            <a:r>
              <a:rPr lang="en-US" sz="1400" dirty="0"/>
              <a:t>Deployment (Dockerizing the model and building a Flask API).</a:t>
            </a:r>
          </a:p>
          <a:p>
            <a:pPr marL="0" indent="0">
              <a:buNone/>
            </a:pPr>
            <a:r>
              <a:rPr lang="en-US" sz="1400" dirty="0"/>
              <a:t>Note: My goal isn't just a model, it's a deployable artifact. I will containerize the final agent so it can accept traffic data via API and return signal decisions.</a:t>
            </a:r>
          </a:p>
          <a:p>
            <a:endParaRPr lang="en-US" dirty="0"/>
          </a:p>
        </p:txBody>
      </p:sp>
      <p:graphicFrame>
        <p:nvGraphicFramePr>
          <p:cNvPr id="4" name="Content Placeholder 14">
            <a:extLst>
              <a:ext uri="{FF2B5EF4-FFF2-40B4-BE49-F238E27FC236}">
                <a16:creationId xmlns:a16="http://schemas.microsoft.com/office/drawing/2014/main" id="{5DD0120F-0B9D-4326-84B7-C282E029464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49599751"/>
              </p:ext>
            </p:extLst>
          </p:nvPr>
        </p:nvGraphicFramePr>
        <p:xfrm>
          <a:off x="471055" y="3740727"/>
          <a:ext cx="9467272" cy="28817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1295199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98FD7-50A1-4D81-9F32-47F5E0D72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38909"/>
          </a:xfrm>
        </p:spPr>
        <p:txBody>
          <a:bodyPr>
            <a:normAutofit/>
          </a:bodyPr>
          <a:lstStyle/>
          <a:p>
            <a:pPr algn="ctr"/>
            <a:r>
              <a:rPr lang="en-US" sz="2400" dirty="0"/>
              <a:t>Evaluation and Success Metrics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5FAB9209-893C-499F-AB8D-16D56865B1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25600"/>
            <a:ext cx="9999902" cy="4747492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Primary Metric: Average Waiting Time</a:t>
            </a:r>
          </a:p>
          <a:p>
            <a:pPr marL="0" indent="0">
              <a:buNone/>
            </a:pPr>
            <a:r>
              <a:rPr lang="en-US" b="1" dirty="0"/>
              <a:t>Goal</a:t>
            </a:r>
            <a:r>
              <a:rPr lang="en-US" dirty="0"/>
              <a:t>: Reduce average waiting time per vehicle to less than 20 seconds.</a:t>
            </a:r>
          </a:p>
          <a:p>
            <a:pPr marL="0" indent="0">
              <a:buNone/>
            </a:pPr>
            <a:r>
              <a:rPr lang="en-US" b="1" dirty="0"/>
              <a:t>Success Target</a:t>
            </a:r>
            <a:r>
              <a:rPr lang="en-US" dirty="0"/>
              <a:t>: At least a 15% reduction compared to a fixed-timer baseline.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Secondary Metrics</a:t>
            </a:r>
            <a:r>
              <a:rPr lang="en-US" dirty="0"/>
              <a:t>:</a:t>
            </a:r>
          </a:p>
          <a:p>
            <a:r>
              <a:rPr lang="en-US" b="1" dirty="0"/>
              <a:t>Intersection Throughput</a:t>
            </a:r>
            <a:r>
              <a:rPr lang="en-US" dirty="0"/>
              <a:t>: Increase the number of vehicles successfully clearing the intersection per hour.</a:t>
            </a:r>
          </a:p>
          <a:p>
            <a:r>
              <a:rPr lang="en-US" b="1" dirty="0"/>
              <a:t>Queue Length / Overflows</a:t>
            </a:r>
            <a:r>
              <a:rPr lang="en-US" dirty="0"/>
              <a:t>: Minimize maximum queue lengths to prevent gridlock.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Training Performance:</a:t>
            </a:r>
          </a:p>
          <a:p>
            <a:r>
              <a:rPr lang="en-US" b="1" dirty="0"/>
              <a:t>Convergence Speed</a:t>
            </a:r>
            <a:r>
              <a:rPr lang="en-US" dirty="0"/>
              <a:t>: Demonstrate that the agent's reward learning curve becomes stable within a reasonable number of training episodes/timesteps (e.g., after ~20,000-50,000 steps).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 err="1"/>
              <a:t>MLOps</a:t>
            </a:r>
            <a:r>
              <a:rPr lang="en-US" b="1" dirty="0"/>
              <a:t> Monitoring:</a:t>
            </a:r>
            <a:endParaRPr lang="en-US" dirty="0"/>
          </a:p>
          <a:p>
            <a:r>
              <a:rPr lang="en-US" b="1" dirty="0"/>
              <a:t>Model Drift</a:t>
            </a:r>
            <a:r>
              <a:rPr lang="en-US" dirty="0"/>
              <a:t>: Monitor if the deployed agent's performance degrades over time in a live/simulated production setting.</a:t>
            </a:r>
          </a:p>
          <a:p>
            <a:r>
              <a:rPr lang="en-US" b="1" dirty="0"/>
              <a:t>Data Drift: </a:t>
            </a:r>
            <a:r>
              <a:rPr lang="en-US" dirty="0"/>
              <a:t>Track changes in input traffic patterns to detect conditions that might invalidate the model.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09212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C005B-B339-4BDE-AB11-F05A4A28E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43280"/>
          </a:xfrm>
        </p:spPr>
        <p:txBody>
          <a:bodyPr>
            <a:normAutofit/>
          </a:bodyPr>
          <a:lstStyle/>
          <a:p>
            <a:r>
              <a:rPr lang="en-US" sz="2400" b="1" dirty="0"/>
              <a:t>Comparison Chart for Traffic Fixed Timer and RL Matrix </a:t>
            </a:r>
            <a:endParaRPr lang="en-US" sz="2400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4142CB2-18CF-4D8A-B82D-9321DB61D9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8641808"/>
              </p:ext>
            </p:extLst>
          </p:nvPr>
        </p:nvGraphicFramePr>
        <p:xfrm>
          <a:off x="677863" y="1737360"/>
          <a:ext cx="9106217" cy="43046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13078926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6001</TotalTime>
  <Words>883</Words>
  <Application>Microsoft Office PowerPoint</Application>
  <PresentationFormat>Widescreen</PresentationFormat>
  <Paragraphs>94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3" baseType="lpstr">
      <vt:lpstr>Adobe Devanagari</vt:lpstr>
      <vt:lpstr>Arial</vt:lpstr>
      <vt:lpstr>Arial Unicode MS</vt:lpstr>
      <vt:lpstr>Calibri</vt:lpstr>
      <vt:lpstr>Courier New</vt:lpstr>
      <vt:lpstr>Symbol</vt:lpstr>
      <vt:lpstr>Times New Roman</vt:lpstr>
      <vt:lpstr>Trebuchet MS</vt:lpstr>
      <vt:lpstr>Wingdings</vt:lpstr>
      <vt:lpstr>Wingdings 3</vt:lpstr>
      <vt:lpstr>Facet</vt:lpstr>
      <vt:lpstr>NAME:ATUHAIRE PAULINE REG NO:B35093 COURSE:DATA LIFE CYCLE </vt:lpstr>
      <vt:lpstr>DEEP GREEN</vt:lpstr>
      <vt:lpstr>Comparison of  Rule-Based Control(If X then Y) Vs Trial and Error(Optimal Policy)</vt:lpstr>
      <vt:lpstr>Illustration of Rule-Based Control(If X then Y) Vs Trial and Error(Optimal Policy)</vt:lpstr>
      <vt:lpstr>Mathematical Formulation (The MDP)</vt:lpstr>
      <vt:lpstr>Mathematical Formulation (The MDP) Illustration</vt:lpstr>
      <vt:lpstr>The Solution: Deep Q-Network (DQN)</vt:lpstr>
      <vt:lpstr>Schematic Illustration</vt:lpstr>
      <vt:lpstr>Simulation Environment</vt:lpstr>
      <vt:lpstr>Implementation Plan (Part B Preview) </vt:lpstr>
      <vt:lpstr>Evaluation and Success Metrics</vt:lpstr>
      <vt:lpstr>Comparison Chart for Traffic Fixed Timer and RL Matrix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AA</dc:creator>
  <cp:lastModifiedBy>AA</cp:lastModifiedBy>
  <cp:revision>44</cp:revision>
  <dcterms:created xsi:type="dcterms:W3CDTF">2025-11-19T07:41:28Z</dcterms:created>
  <dcterms:modified xsi:type="dcterms:W3CDTF">2025-11-27T05:53:24Z</dcterms:modified>
</cp:coreProperties>
</file>