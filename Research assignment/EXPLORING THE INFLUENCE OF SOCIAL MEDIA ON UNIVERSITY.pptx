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86"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4A78D-B567-4AD7-BBF7-58DE4A22E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6E33C5-2C00-44FD-9E6C-D0049E641D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46048E-FD05-467F-B006-0308E50EA82E}"/>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5" name="Footer Placeholder 4">
            <a:extLst>
              <a:ext uri="{FF2B5EF4-FFF2-40B4-BE49-F238E27FC236}">
                <a16:creationId xmlns:a16="http://schemas.microsoft.com/office/drawing/2014/main" id="{1BBB0844-1165-4CB8-8DE5-BD62D34BA4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752416-ECD0-4A41-AB57-8C295561507C}"/>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319472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0F2E-23A3-4423-968D-15353D2B71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BF6DA9-2D34-4814-AD5A-7E4C877C269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5ED67-4BC4-4D83-9ED9-B305E76C89DE}"/>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5" name="Footer Placeholder 4">
            <a:extLst>
              <a:ext uri="{FF2B5EF4-FFF2-40B4-BE49-F238E27FC236}">
                <a16:creationId xmlns:a16="http://schemas.microsoft.com/office/drawing/2014/main" id="{F22ABB5E-F399-4C10-A5B5-B8E8A3BC17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50343-8658-4240-A3B5-B8476CA2E5EC}"/>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3720844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C7EB-47D3-4A75-91F4-B53E400B78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70B847-00B5-451F-A1D5-09556099EC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2E0F9C0-32B4-473A-BAED-A42A82B40C15}"/>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5" name="Footer Placeholder 4">
            <a:extLst>
              <a:ext uri="{FF2B5EF4-FFF2-40B4-BE49-F238E27FC236}">
                <a16:creationId xmlns:a16="http://schemas.microsoft.com/office/drawing/2014/main" id="{044C46F9-C2E3-48D0-8AC6-EC559EAD7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1C5E8F-7F0E-4241-936A-C8E0817BA276}"/>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2331179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2B714-2D88-4331-8BE4-518291593C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CAD63E-DCA3-4FC6-9097-B0FA6ED1887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FA7DF0-C3C6-4C2A-8519-A3BF00408BD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2864C8-22DB-48B8-83C6-4D14E7FAFC76}"/>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6" name="Footer Placeholder 5">
            <a:extLst>
              <a:ext uri="{FF2B5EF4-FFF2-40B4-BE49-F238E27FC236}">
                <a16:creationId xmlns:a16="http://schemas.microsoft.com/office/drawing/2014/main" id="{6445237F-C5F2-4003-9CE4-D5E6951016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1C10F1-426D-4DBB-90BA-C037FCC0C4A6}"/>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3424767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EE2DE-1707-415B-9B09-E7F3A4CD9C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2C2F18-51B0-4669-B631-B173B7F7C6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57952C1-B1F1-4F15-9772-1EDA5503F9B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774A84-DC44-45D4-BB8D-D51BC464F7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6B77971-761F-4F31-A0A3-55AEAE2855D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E36C02-B282-48CB-82B3-1036A9C99F32}"/>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8" name="Footer Placeholder 7">
            <a:extLst>
              <a:ext uri="{FF2B5EF4-FFF2-40B4-BE49-F238E27FC236}">
                <a16:creationId xmlns:a16="http://schemas.microsoft.com/office/drawing/2014/main" id="{AFBB1196-F794-482E-BF99-691FA74651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AB87D7-E7ED-4815-8341-4DC1B90BF077}"/>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2284834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2064D-C590-4194-9286-F4B3120162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E3BB70-42A8-450C-A847-C8B8C27CF283}"/>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4" name="Footer Placeholder 3">
            <a:extLst>
              <a:ext uri="{FF2B5EF4-FFF2-40B4-BE49-F238E27FC236}">
                <a16:creationId xmlns:a16="http://schemas.microsoft.com/office/drawing/2014/main" id="{C1E875DA-DA07-4850-9193-CBD1144C43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4F8657-8F0E-4107-B19C-6E6062E9D124}"/>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3372455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E721BF-A4A6-4238-96A9-311FB2A47584}"/>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3" name="Footer Placeholder 2">
            <a:extLst>
              <a:ext uri="{FF2B5EF4-FFF2-40B4-BE49-F238E27FC236}">
                <a16:creationId xmlns:a16="http://schemas.microsoft.com/office/drawing/2014/main" id="{27ACC6C0-7CC5-4850-81B5-8A9FBA3811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A5FE9E-D7E1-4AE3-AAD8-97D34C25CEB6}"/>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725398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ABCAD-0F75-489D-B054-E3A9E9E726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342ADF-4CD4-4E51-9B70-D08FD7F2C2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AD27D8-B8D7-4871-BEE1-967E55CB5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9272014-746B-49F3-AF5E-6FD277EA2510}"/>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6" name="Footer Placeholder 5">
            <a:extLst>
              <a:ext uri="{FF2B5EF4-FFF2-40B4-BE49-F238E27FC236}">
                <a16:creationId xmlns:a16="http://schemas.microsoft.com/office/drawing/2014/main" id="{73A716A9-D621-45E2-93CD-8F121484DD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4F0979-5FE8-4D9D-B17B-2C3F09B5FECE}"/>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2938395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51D7A-E6BD-4145-8B1F-D8F70BC672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FF11AF-5217-49D2-9599-A1C4E4AC93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F127C3-5E35-47BA-BDFE-EDF4634A2D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2963984-A148-4D4F-B19E-3D734715D303}"/>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6" name="Footer Placeholder 5">
            <a:extLst>
              <a:ext uri="{FF2B5EF4-FFF2-40B4-BE49-F238E27FC236}">
                <a16:creationId xmlns:a16="http://schemas.microsoft.com/office/drawing/2014/main" id="{5E4D40BF-E3C7-4077-9E7D-667B60989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A4DF9-C662-4372-BF1E-D20CA5C537AE}"/>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337727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C4DFC-CACF-4877-9072-8BCE286460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657E00-A1B7-463D-B577-134D0513DC7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CCFF7A-80DC-4198-93F7-858D0A48319C}"/>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5" name="Footer Placeholder 4">
            <a:extLst>
              <a:ext uri="{FF2B5EF4-FFF2-40B4-BE49-F238E27FC236}">
                <a16:creationId xmlns:a16="http://schemas.microsoft.com/office/drawing/2014/main" id="{91EDFAA5-8DBD-4F0F-A286-27D8DCA8D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2410D2-3208-4A19-96A7-A450ED2B16C0}"/>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2715403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6CD585-AAF0-4264-80EE-85B0E7B973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ED4C01-BA76-4683-B42C-F30E7313785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DE05D7-B839-4A83-A0BD-A54C71D014BF}"/>
              </a:ext>
            </a:extLst>
          </p:cNvPr>
          <p:cNvSpPr>
            <a:spLocks noGrp="1"/>
          </p:cNvSpPr>
          <p:nvPr>
            <p:ph type="dt" sz="half" idx="10"/>
          </p:nvPr>
        </p:nvSpPr>
        <p:spPr/>
        <p:txBody>
          <a:bodyPr/>
          <a:lstStyle/>
          <a:p>
            <a:fld id="{0AB6205F-F55D-4C80-8220-FC3D792084D0}" type="datetimeFigureOut">
              <a:rPr lang="en-US" smtClean="0"/>
              <a:t>22-Sep-25</a:t>
            </a:fld>
            <a:endParaRPr lang="en-US"/>
          </a:p>
        </p:txBody>
      </p:sp>
      <p:sp>
        <p:nvSpPr>
          <p:cNvPr id="5" name="Footer Placeholder 4">
            <a:extLst>
              <a:ext uri="{FF2B5EF4-FFF2-40B4-BE49-F238E27FC236}">
                <a16:creationId xmlns:a16="http://schemas.microsoft.com/office/drawing/2014/main" id="{81C275CA-786B-4184-93EA-CBAB5C10EF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DFB8B-83DF-46FF-A6A7-AF8781F23C5A}"/>
              </a:ext>
            </a:extLst>
          </p:cNvPr>
          <p:cNvSpPr>
            <a:spLocks noGrp="1"/>
          </p:cNvSpPr>
          <p:nvPr>
            <p:ph type="sldNum" sz="quarter" idx="12"/>
          </p:nvPr>
        </p:nvSpPr>
        <p:spPr/>
        <p:txBody>
          <a:bodyPr/>
          <a:lstStyle/>
          <a:p>
            <a:fld id="{8C9CCD2D-E80E-4820-B5C8-F3EE97B605B5}" type="slidenum">
              <a:rPr lang="en-US" smtClean="0"/>
              <a:t>‹#›</a:t>
            </a:fld>
            <a:endParaRPr lang="en-US"/>
          </a:p>
        </p:txBody>
      </p:sp>
    </p:spTree>
    <p:extLst>
      <p:ext uri="{BB962C8B-B14F-4D97-AF65-F5344CB8AC3E}">
        <p14:creationId xmlns:p14="http://schemas.microsoft.com/office/powerpoint/2010/main" val="2550559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594761-CCBA-4723-9C6C-A3A1A5C618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44D6C6-6E4E-4EC5-9E46-E1DBB680A8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5B5906-F438-496D-9085-984B0782F3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B6205F-F55D-4C80-8220-FC3D792084D0}" type="datetimeFigureOut">
              <a:rPr lang="en-US" smtClean="0"/>
              <a:t>22-Sep-25</a:t>
            </a:fld>
            <a:endParaRPr lang="en-US"/>
          </a:p>
        </p:txBody>
      </p:sp>
      <p:sp>
        <p:nvSpPr>
          <p:cNvPr id="5" name="Footer Placeholder 4">
            <a:extLst>
              <a:ext uri="{FF2B5EF4-FFF2-40B4-BE49-F238E27FC236}">
                <a16:creationId xmlns:a16="http://schemas.microsoft.com/office/drawing/2014/main" id="{4802C478-E8E8-4798-A076-C7D13B4517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F3356E-8831-47A6-9493-EDA13A1967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CCD2D-E80E-4820-B5C8-F3EE97B605B5}" type="slidenum">
              <a:rPr lang="en-US" smtClean="0"/>
              <a:t>‹#›</a:t>
            </a:fld>
            <a:endParaRPr lang="en-US"/>
          </a:p>
        </p:txBody>
      </p:sp>
    </p:spTree>
    <p:extLst>
      <p:ext uri="{BB962C8B-B14F-4D97-AF65-F5344CB8AC3E}">
        <p14:creationId xmlns:p14="http://schemas.microsoft.com/office/powerpoint/2010/main" val="1669049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BFAEF-BE8F-4596-A74F-6B9B49EB64A7}"/>
              </a:ext>
            </a:extLst>
          </p:cNvPr>
          <p:cNvSpPr>
            <a:spLocks noGrp="1"/>
          </p:cNvSpPr>
          <p:nvPr>
            <p:ph type="title"/>
          </p:nvPr>
        </p:nvSpPr>
        <p:spPr/>
        <p:txBody>
          <a:bodyPr/>
          <a:lstStyle/>
          <a:p>
            <a:r>
              <a:rPr lang="en-US" sz="1600" b="1" dirty="0"/>
              <a:t>EXPLORING THE INFLUENCE OF SOCIAL MEDIA ON UNIVERSITY STUDENTS SELF ESTEEM AND SOCIAL COMPARISON </a:t>
            </a:r>
            <a:br>
              <a:rPr lang="en-US" sz="1600" b="1" dirty="0"/>
            </a:br>
            <a:r>
              <a:rPr lang="en-US" sz="2000" dirty="0"/>
              <a:t>                </a:t>
            </a:r>
            <a:endParaRPr lang="en-US" dirty="0"/>
          </a:p>
        </p:txBody>
      </p:sp>
      <p:sp>
        <p:nvSpPr>
          <p:cNvPr id="3" name="Content Placeholder 2">
            <a:extLst>
              <a:ext uri="{FF2B5EF4-FFF2-40B4-BE49-F238E27FC236}">
                <a16:creationId xmlns:a16="http://schemas.microsoft.com/office/drawing/2014/main" id="{9AEC838D-B4A7-4226-8BA5-67B50C855BB3}"/>
              </a:ext>
            </a:extLst>
          </p:cNvPr>
          <p:cNvSpPr>
            <a:spLocks noGrp="1"/>
          </p:cNvSpPr>
          <p:nvPr>
            <p:ph idx="1"/>
          </p:nvPr>
        </p:nvSpPr>
        <p:spPr/>
        <p:txBody>
          <a:bodyPr>
            <a:normAutofit/>
          </a:bodyPr>
          <a:lstStyle/>
          <a:p>
            <a:pPr marL="0" indent="0">
              <a:buNone/>
            </a:pPr>
            <a:r>
              <a:rPr lang="en-US" sz="1400" dirty="0"/>
              <a:t>Background</a:t>
            </a:r>
          </a:p>
          <a:p>
            <a:pPr marL="0" indent="0">
              <a:buNone/>
            </a:pPr>
            <a:r>
              <a:rPr lang="en-US" sz="1400" dirty="0"/>
              <a:t>University students are among the most active users of social media, their experiences with different social media platforms can significantly impact their self esteem and social comparison behaviors. Social media platforms like Instagram ,Snapchat and TikTok often present curated and idealized versions of other peoples’ lives, which can lead to unrealistic comparisons and negative self-perceptions.</a:t>
            </a:r>
          </a:p>
          <a:p>
            <a:pPr marL="0" indent="0">
              <a:buNone/>
            </a:pPr>
            <a:endParaRPr lang="en-US" sz="1400" dirty="0"/>
          </a:p>
          <a:p>
            <a:pPr marL="0" indent="0">
              <a:buNone/>
            </a:pPr>
            <a:r>
              <a:rPr lang="en-US" sz="1400" dirty="0"/>
              <a:t>Problem Statement</a:t>
            </a:r>
          </a:p>
          <a:p>
            <a:pPr marL="0" indent="0">
              <a:buNone/>
            </a:pPr>
            <a:r>
              <a:rPr lang="en-US" sz="1400" dirty="0"/>
              <a:t>University students are increasingly reliant on social media for social interaction, self-expression, and information sharing. However, exposure to curated and idealized content on these platforms can lead to negative social comparison and decreased self-esteem, potentially contributing </a:t>
            </a:r>
            <a:r>
              <a:rPr lang="en-US" sz="1400" dirty="0">
                <a:highlight>
                  <a:srgbClr val="FF0000"/>
                </a:highlight>
              </a:rPr>
              <a:t>to mental health issues such as anxiety, depression, and </a:t>
            </a:r>
            <a:r>
              <a:rPr lang="en-US" sz="1400" dirty="0"/>
              <a:t>low self-confidence. Despite the growing concern about the impact of social media on </a:t>
            </a:r>
            <a:r>
              <a:rPr lang="en-US" sz="1400" dirty="0">
                <a:highlight>
                  <a:srgbClr val="FF0000"/>
                </a:highlight>
              </a:rPr>
              <a:t>mental health</a:t>
            </a:r>
            <a:r>
              <a:rPr lang="en-US" sz="1400" dirty="0"/>
              <a:t>, there is a need for in-depth understanding of how social media use specifically affects university students' self-esteem and social comparison behaviors. This study aims to investigate the relationship between social media use, self-esteem, and social comparison among university students, with the goal of informing strategies to promote healthy social media use </a:t>
            </a:r>
            <a:r>
              <a:rPr lang="en-US" sz="1400" dirty="0">
                <a:highlight>
                  <a:srgbClr val="FF0000"/>
                </a:highlight>
              </a:rPr>
              <a:t>and support positive mental health outcomes</a:t>
            </a:r>
            <a:r>
              <a:rPr lang="en-US" sz="1400" dirty="0"/>
              <a:t>.</a:t>
            </a:r>
          </a:p>
        </p:txBody>
      </p:sp>
    </p:spTree>
    <p:extLst>
      <p:ext uri="{BB962C8B-B14F-4D97-AF65-F5344CB8AC3E}">
        <p14:creationId xmlns:p14="http://schemas.microsoft.com/office/powerpoint/2010/main" val="3876097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6BF60-2AD0-4BF9-B9C9-22FD993271A9}"/>
              </a:ext>
            </a:extLst>
          </p:cNvPr>
          <p:cNvSpPr>
            <a:spLocks noGrp="1"/>
          </p:cNvSpPr>
          <p:nvPr>
            <p:ph type="title"/>
          </p:nvPr>
        </p:nvSpPr>
        <p:spPr>
          <a:xfrm>
            <a:off x="785091" y="365125"/>
            <a:ext cx="10568709" cy="1325563"/>
          </a:xfrm>
        </p:spPr>
        <p:txBody>
          <a:bodyPr>
            <a:normAutofit/>
          </a:bodyPr>
          <a:lstStyle/>
          <a:p>
            <a:r>
              <a:rPr lang="en-US" sz="1600" dirty="0"/>
              <a:t>Research purpose and objectives</a:t>
            </a:r>
          </a:p>
        </p:txBody>
      </p:sp>
      <p:sp>
        <p:nvSpPr>
          <p:cNvPr id="3" name="Content Placeholder 2">
            <a:extLst>
              <a:ext uri="{FF2B5EF4-FFF2-40B4-BE49-F238E27FC236}">
                <a16:creationId xmlns:a16="http://schemas.microsoft.com/office/drawing/2014/main" id="{5B4D6FC4-E233-4202-81D9-5E8F0EDA285B}"/>
              </a:ext>
            </a:extLst>
          </p:cNvPr>
          <p:cNvSpPr>
            <a:spLocks noGrp="1"/>
          </p:cNvSpPr>
          <p:nvPr>
            <p:ph idx="1"/>
          </p:nvPr>
        </p:nvSpPr>
        <p:spPr>
          <a:xfrm>
            <a:off x="891309" y="1613189"/>
            <a:ext cx="10515600" cy="4351338"/>
          </a:xfrm>
        </p:spPr>
        <p:txBody>
          <a:bodyPr>
            <a:normAutofit lnSpcReduction="10000"/>
          </a:bodyPr>
          <a:lstStyle/>
          <a:p>
            <a:pPr marL="0" indent="0">
              <a:buNone/>
            </a:pPr>
            <a:r>
              <a:rPr lang="en-US" sz="1400" dirty="0"/>
              <a:t>Purpose</a:t>
            </a:r>
          </a:p>
          <a:p>
            <a:pPr marL="0" indent="0">
              <a:buNone/>
            </a:pPr>
            <a:r>
              <a:rPr lang="en-US" sz="1400" dirty="0"/>
              <a:t>The purpose of this study is to investigate the relationship between social media use and its impact on self-esteem and social comparison behaviors among university students. Specifically, this research aims to:</a:t>
            </a:r>
          </a:p>
          <a:p>
            <a:pPr>
              <a:buFont typeface="Wingdings" panose="05000000000000000000" pitchFamily="2" charset="2"/>
              <a:buChar char="§"/>
            </a:pPr>
            <a:r>
              <a:rPr lang="en-US" sz="1400" dirty="0"/>
              <a:t> Investigate the correlation between social media use and self-esteem among university students.</a:t>
            </a:r>
          </a:p>
          <a:p>
            <a:pPr>
              <a:buFont typeface="Wingdings" panose="05000000000000000000" pitchFamily="2" charset="2"/>
              <a:buChar char="§"/>
            </a:pPr>
            <a:r>
              <a:rPr lang="en-US" sz="1400" dirty="0"/>
              <a:t>Explore how social media use influences social comparison behaviors and self-perceptions among university students.</a:t>
            </a:r>
          </a:p>
          <a:p>
            <a:pPr>
              <a:buFont typeface="Wingdings" panose="05000000000000000000" pitchFamily="2" charset="2"/>
              <a:buChar char="§"/>
            </a:pPr>
            <a:r>
              <a:rPr lang="en-US" sz="1400" dirty="0"/>
              <a:t> Determine whether specific social media platforms or types of content have a more significant impact on self-esteem and social comparison.</a:t>
            </a:r>
          </a:p>
          <a:p>
            <a:pPr>
              <a:buFont typeface="Wingdings" panose="05000000000000000000" pitchFamily="2" charset="2"/>
              <a:buChar char="§"/>
            </a:pPr>
            <a:r>
              <a:rPr lang="en-US" sz="1400" dirty="0"/>
              <a:t>Provide insights and recommendations for universities, educators, and mental health professionals to develop targeted interventions and support services that promote healthy social media use and mitigate its negative effects on self-esteem and mental health.</a:t>
            </a:r>
          </a:p>
          <a:p>
            <a:pPr marL="0" indent="0">
              <a:buNone/>
            </a:pPr>
            <a:r>
              <a:rPr lang="en-US" sz="1400" dirty="0"/>
              <a:t>Objectives</a:t>
            </a:r>
          </a:p>
          <a:p>
            <a:pPr>
              <a:buFont typeface="Wingdings" panose="05000000000000000000" pitchFamily="2" charset="2"/>
              <a:buChar char="ü"/>
            </a:pPr>
            <a:r>
              <a:rPr lang="en-US" sz="1400" dirty="0"/>
              <a:t>To investigate the relationship between social media use and self-esteem among university students </a:t>
            </a:r>
          </a:p>
          <a:p>
            <a:pPr>
              <a:buFont typeface="Wingdings" panose="05000000000000000000" pitchFamily="2" charset="2"/>
              <a:buChar char="ü"/>
            </a:pPr>
            <a:r>
              <a:rPr lang="en-US" sz="1400" dirty="0"/>
              <a:t>To explore the impact of social media on social comparison behaviors</a:t>
            </a:r>
          </a:p>
          <a:p>
            <a:pPr>
              <a:buFont typeface="Wingdings" panose="05000000000000000000" pitchFamily="2" charset="2"/>
              <a:buChar char="ü"/>
            </a:pPr>
            <a:r>
              <a:rPr lang="en-US" sz="1400" dirty="0"/>
              <a:t>To identify the specific social media platforms or content that have the most significant impact </a:t>
            </a:r>
          </a:p>
          <a:p>
            <a:pPr>
              <a:buFont typeface="Wingdings" panose="05000000000000000000" pitchFamily="2" charset="2"/>
              <a:buChar char="ü"/>
            </a:pPr>
            <a:r>
              <a:rPr lang="en-US" sz="1400" dirty="0"/>
              <a:t>To examine the potential mediating factors such as self-compassion, social support, or personality traits, that may influence the relationship between social media use and self-esteem.</a:t>
            </a:r>
          </a:p>
          <a:p>
            <a:pPr>
              <a:buFont typeface="Wingdings" panose="05000000000000000000" pitchFamily="2" charset="2"/>
              <a:buChar char="ü"/>
            </a:pPr>
            <a:r>
              <a:rPr lang="en-US" sz="1400" dirty="0"/>
              <a:t> To inform strategies for promoting healthy social media use and mitigate negative effects on self-esteem</a:t>
            </a:r>
          </a:p>
        </p:txBody>
      </p:sp>
    </p:spTree>
    <p:extLst>
      <p:ext uri="{BB962C8B-B14F-4D97-AF65-F5344CB8AC3E}">
        <p14:creationId xmlns:p14="http://schemas.microsoft.com/office/powerpoint/2010/main" val="1119762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3509F-DEA0-47F7-BDEE-8A802803F2D2}"/>
              </a:ext>
            </a:extLst>
          </p:cNvPr>
          <p:cNvSpPr>
            <a:spLocks noGrp="1"/>
          </p:cNvSpPr>
          <p:nvPr>
            <p:ph type="title"/>
          </p:nvPr>
        </p:nvSpPr>
        <p:spPr/>
        <p:txBody>
          <a:bodyPr>
            <a:normAutofit/>
          </a:bodyPr>
          <a:lstStyle/>
          <a:p>
            <a:r>
              <a:rPr lang="en-US" sz="1400" dirty="0"/>
              <a:t>Research Questions</a:t>
            </a:r>
          </a:p>
        </p:txBody>
      </p:sp>
      <p:sp>
        <p:nvSpPr>
          <p:cNvPr id="3" name="Content Placeholder 2">
            <a:extLst>
              <a:ext uri="{FF2B5EF4-FFF2-40B4-BE49-F238E27FC236}">
                <a16:creationId xmlns:a16="http://schemas.microsoft.com/office/drawing/2014/main" id="{6E41BC2E-5B2F-4EB7-B38C-57182999CE77}"/>
              </a:ext>
            </a:extLst>
          </p:cNvPr>
          <p:cNvSpPr>
            <a:spLocks noGrp="1"/>
          </p:cNvSpPr>
          <p:nvPr>
            <p:ph idx="1"/>
          </p:nvPr>
        </p:nvSpPr>
        <p:spPr>
          <a:xfrm>
            <a:off x="330200" y="1690688"/>
            <a:ext cx="10515600" cy="4351338"/>
          </a:xfrm>
        </p:spPr>
        <p:txBody>
          <a:bodyPr>
            <a:normAutofit fontScale="85000" lnSpcReduction="20000"/>
          </a:bodyPr>
          <a:lstStyle/>
          <a:p>
            <a:pPr marL="342900" indent="-342900">
              <a:buAutoNum type="arabicPeriod"/>
            </a:pPr>
            <a:r>
              <a:rPr lang="en-US" sz="1400" dirty="0"/>
              <a:t>What is the relationship between social media use and self-esteem among university students?  </a:t>
            </a:r>
          </a:p>
          <a:p>
            <a:pPr marL="342900" indent="-342900">
              <a:buAutoNum type="arabicPeriod"/>
            </a:pPr>
            <a:r>
              <a:rPr lang="en-US" sz="1400" dirty="0"/>
              <a:t>How does social media use influence social comparison behaviors among university students?  </a:t>
            </a:r>
          </a:p>
          <a:p>
            <a:pPr marL="342900" indent="-342900">
              <a:buAutoNum type="arabicPeriod"/>
            </a:pPr>
            <a:r>
              <a:rPr lang="en-US" sz="1400" dirty="0"/>
              <a:t> Which specific social media platforms or types of content have the most significant impact on self-esteem and social comparison?   </a:t>
            </a:r>
          </a:p>
          <a:p>
            <a:pPr marL="342900" indent="-342900">
              <a:buAutoNum type="arabicPeriod"/>
            </a:pPr>
            <a:r>
              <a:rPr lang="en-US" sz="1400" dirty="0"/>
              <a:t> What are the potential mediating factors that influence the relationship between social media use and self-esteem?    - Do factors such as self-compassion, social support, or personality traits mediate the relationship between social media use and self-esteem?</a:t>
            </a:r>
          </a:p>
          <a:p>
            <a:pPr marL="342900" indent="-342900">
              <a:buAutoNum type="arabicPeriod"/>
            </a:pPr>
            <a:r>
              <a:rPr lang="en-US" sz="1400" dirty="0"/>
              <a:t> What strategies can be implemented to promote healthy social media use and mitigate its negative effects on self-esteem and mental health?</a:t>
            </a:r>
          </a:p>
          <a:p>
            <a:pPr marL="0" indent="0">
              <a:buNone/>
            </a:pPr>
            <a:endParaRPr lang="en-US" sz="1400" dirty="0"/>
          </a:p>
          <a:p>
            <a:pPr marL="0" indent="0">
              <a:buNone/>
            </a:pPr>
            <a:r>
              <a:rPr lang="en-US" sz="1400" dirty="0"/>
              <a:t>Justification</a:t>
            </a:r>
          </a:p>
          <a:p>
            <a:pPr marL="342900" indent="-342900">
              <a:buAutoNum type="arabicPeriod"/>
            </a:pPr>
            <a:r>
              <a:rPr lang="en-US" sz="1400" dirty="0"/>
              <a:t>Prevalence of Social Media Use: University students are among the most active users of social media, making it essential to understand its impact on their mental health and well-being.</a:t>
            </a:r>
          </a:p>
          <a:p>
            <a:pPr marL="342900" indent="-342900">
              <a:buAutoNum type="arabicPeriod"/>
            </a:pPr>
            <a:r>
              <a:rPr lang="en-US" sz="1400" dirty="0"/>
              <a:t>Mental Health Concerns: The prevalence of mental health issues, such as anxiety, depression, and low self-esteem, among university students is a growing concern, and social media use may be a contributing factor.</a:t>
            </a:r>
          </a:p>
          <a:p>
            <a:pPr marL="342900" indent="-342900">
              <a:buAutoNum type="arabicPeriod"/>
            </a:pPr>
            <a:r>
              <a:rPr lang="en-US" sz="1400" dirty="0"/>
              <a:t> Limited Understanding: Despite the widespread use of social media, there is limited understanding of its specific impact on university students' self-esteem and social comparison behaviors.</a:t>
            </a:r>
          </a:p>
          <a:p>
            <a:pPr marL="342900" indent="-342900">
              <a:buAutoNum type="arabicPeriod"/>
            </a:pPr>
            <a:r>
              <a:rPr lang="en-US" sz="1400" dirty="0"/>
              <a:t> Importance of Self-Esteem: Self-esteem is a critical aspect of mental health, and negative self-esteem can have long-term consequences, including decreased academic performance, social isolation, and mental health issues.</a:t>
            </a:r>
          </a:p>
          <a:p>
            <a:pPr marL="342900" indent="-342900">
              <a:buAutoNum type="arabicPeriod"/>
            </a:pPr>
            <a:r>
              <a:rPr lang="en-US" sz="1400" dirty="0"/>
              <a:t>Informing Interventions: This research can inform the development of targeted interventions and support services to promote healthy social media use and mitigate its negative effects on self-esteem and mental health.</a:t>
            </a:r>
          </a:p>
          <a:p>
            <a:pPr marL="342900" indent="-342900">
              <a:buAutoNum type="arabicPeriod"/>
            </a:pPr>
            <a:r>
              <a:rPr lang="en-US" sz="1400" dirty="0"/>
              <a:t>Contribution to Existing Literature: This study can contribute to the existing literature on social media use, self-esteem, and social comparison, providing valuable insights for researchers, educators, and mental health professionals.</a:t>
            </a:r>
          </a:p>
        </p:txBody>
      </p:sp>
    </p:spTree>
    <p:extLst>
      <p:ext uri="{BB962C8B-B14F-4D97-AF65-F5344CB8AC3E}">
        <p14:creationId xmlns:p14="http://schemas.microsoft.com/office/powerpoint/2010/main" val="2727001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3497</TotalTime>
  <Words>744</Words>
  <Application>Microsoft Office PowerPoint</Application>
  <PresentationFormat>Widescreen</PresentationFormat>
  <Paragraphs>33</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Wingdings</vt:lpstr>
      <vt:lpstr>Office Theme</vt:lpstr>
      <vt:lpstr>EXPLORING THE INFLUENCE OF SOCIAL MEDIA ON UNIVERSITY STUDENTS SELF ESTEEM AND SOCIAL COMPARISON                  </vt:lpstr>
      <vt:lpstr>Research purpose and objectives</vt:lpstr>
      <vt:lpstr>Research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Theoretical</dc:title>
  <dc:creator>AA</dc:creator>
  <cp:lastModifiedBy>AA</cp:lastModifiedBy>
  <cp:revision>21</cp:revision>
  <dcterms:created xsi:type="dcterms:W3CDTF">2025-09-19T18:25:33Z</dcterms:created>
  <dcterms:modified xsi:type="dcterms:W3CDTF">2025-09-22T16:08:13Z</dcterms:modified>
</cp:coreProperties>
</file>